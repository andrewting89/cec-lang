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Electrical Code Evaluation:</a:t>
            </a:r>
            <a:br/>
            <a:r>
              <a:t>Model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CEC Lang Agent vs Baseline LLMs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December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5 models evaluated on 28 electrical code questions</a:t>
            </a:r>
          </a:p>
          <a:p>
            <a:pPr>
              <a:spcAft>
                <a:spcPts val="1200"/>
              </a:spcAft>
              <a:defRPr sz="2400"/>
            </a:pPr>
            <a:r>
              <a:t>LLM-as-Judge evaluation (accuracy + completeness)</a:t>
            </a:r>
          </a:p>
          <a:p>
            <a:pPr>
              <a:spcAft>
                <a:spcPts val="1200"/>
              </a:spcAft>
              <a:defRPr sz="2400" b="1">
                <a:solidFill>
                  <a:srgbClr val="2E7D32"/>
                </a:solidFill>
              </a:defRPr>
            </a:pPr>
            <a:r>
              <a:t>Key finding: CEC Lang achieved ZERO calculation errors</a:t>
            </a:r>
          </a:p>
          <a:p>
            <a:pPr>
              <a:spcAft>
                <a:spcPts val="1200"/>
              </a:spcAft>
              <a:defRPr sz="2400"/>
            </a:pPr>
            <a:r>
              <a:t>All baseline LLMs made 2-4 calculation mistakes</a:t>
            </a:r>
          </a:p>
          <a:p>
            <a:pPr>
              <a:spcAft>
                <a:spcPts val="1200"/>
              </a:spcAft>
              <a:defRPr sz="2400" b="1">
                <a:solidFill>
                  <a:srgbClr val="2E7D32"/>
                </a:solidFill>
              </a:defRPr>
            </a:pPr>
            <a:r>
              <a:t>CEC Lang is the clear winner for inspector-grade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Overall Performance Rankings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77295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548639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Percentage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Calc Errors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CEC Lang Agent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271/280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96.79%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Claude Sonnet 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252/260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96.92%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2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ChatGPT 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246/260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94.62%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3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Gemini 2.5 Pro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263/280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93.93%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3</a:t>
                      </a:r>
                    </a:p>
                  </a:txBody>
                  <a:tcPr/>
                </a:tc>
              </a:tr>
              <a:tr h="548644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GPT-4o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259/280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92.50%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Calculation Error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Every baseline LLM made calculation mistakes</a:t>
            </a:r>
          </a:p>
          <a:p>
            <a:pPr>
              <a:spcAft>
                <a:spcPts val="1200"/>
              </a:spcAft>
              <a:defRPr sz="2400"/>
            </a:pPr>
            <a:r>
              <a:t>Error types: table lookups, unit confusion, wrong correction factors</a:t>
            </a:r>
          </a:p>
          <a:p>
            <a:pPr>
              <a:spcAft>
                <a:spcPts val="1200"/>
              </a:spcAft>
              <a:defRPr sz="2400"/>
            </a:pPr>
            <a:r>
              <a:t>These aren't edge cases - they're fundamental electrical calculations</a:t>
            </a:r>
          </a:p>
          <a:p>
            <a:pPr>
              <a:spcAft>
                <a:spcPts val="1200"/>
              </a:spcAft>
              <a:defRPr sz="2400"/>
            </a:pPr>
            <a:r>
              <a:t>Real-world impact: code violations, undersized conductors, safety risks</a:t>
            </a:r>
          </a:p>
          <a:p>
            <a:pPr>
              <a:spcAft>
                <a:spcPts val="1200"/>
              </a:spcAft>
              <a:defRPr sz="2400"/>
            </a:pPr>
            <a:r>
              <a:t>LLMs confidently produce wrong numerical answers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Critical Win: Conduit Fill Calculation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/>
            </a:pPr>
            <a:r>
              <a:t>Question: "How many 10 AWG THHN conductors fit in 1.25 inch RMC?"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E7D32"/>
                </a:solidFill>
              </a:defRPr>
            </a:pPr>
            <a:r>
              <a:t>CEC Lang: 28 conductors [CORRECT]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E7D32"/>
                </a:solidFill>
              </a:defRPr>
            </a:pPr>
            <a:r>
              <a:t>Claude Sonnet 4.5: 28-29 conductors [CORRECT]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404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62828"/>
                </a:solidFill>
              </a:defRPr>
            </a:pPr>
            <a:r>
              <a:t>ChatGPT 5.1: 28 (wrong conduit size) [WRONG]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720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62828"/>
                </a:solidFill>
              </a:defRPr>
            </a:pPr>
            <a:r>
              <a:t>Gemini 2.5 Pro: 18 conductors [WRONG]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3035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62828"/>
                </a:solidFill>
              </a:defRPr>
            </a:pPr>
            <a:r>
              <a:t>GPT-4o: 144 conductors (5x error!) [WRONG]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Critical Win: Derating Calculations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/>
            </a:pPr>
            <a:r>
              <a:t>Question: "Adjusted ampacity for 12 AWG THHN, 50C ambient, 6 conductors?"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E7D32"/>
                </a:solidFill>
              </a:defRPr>
            </a:pPr>
            <a:r>
              <a:t>CEC Lang: 19.68A (correct factors) [CORRECT]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E7D32"/>
                </a:solidFill>
              </a:defRPr>
            </a:pPr>
            <a:r>
              <a:t>Claude Sonnet 4.5: 19.68A [CORRECT]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404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E7D32"/>
                </a:solidFill>
              </a:defRPr>
            </a:pPr>
            <a:r>
              <a:t>Gemini 2.5 Pro: 19.68A [CORRECT]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720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62828"/>
                </a:solidFill>
              </a:defRPr>
            </a:pPr>
            <a:r>
              <a:t>GPT-4o: 17.04A (wrong temp column) [WRONG]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Critical Win: Service Conductor Sizing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/>
            </a:pPr>
            <a:r>
              <a:t>Question: "What size aluminum conductor for a 200A residential service?"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E7D32"/>
                </a:solidFill>
              </a:defRPr>
            </a:pPr>
            <a:r>
              <a:t>CEC Lang: 4/0 AWG aluminum [CORRECT]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E7D32"/>
                </a:solidFill>
              </a:defRPr>
            </a:pPr>
            <a:r>
              <a:t>GPT-5.1: 4/0 AWG aluminum [CORRECT]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404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E7D32"/>
                </a:solidFill>
              </a:defRPr>
            </a:pPr>
            <a:r>
              <a:t>Gemini 2.5 Pro: 4/0 AWG aluminum [CORRECT]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720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E7D32"/>
                </a:solidFill>
              </a:defRPr>
            </a:pPr>
            <a:r>
              <a:t>GPT-4o: 4/0 AWG aluminum [CORRECT]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3035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62828"/>
                </a:solidFill>
              </a:defRPr>
            </a:pPr>
            <a:r>
              <a:t>Claude Sonnet 4.5: 3/0 AWG (wrong table) [WRONG]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Critical Win: Service Load Calculation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/>
            </a:pPr>
            <a:r>
              <a:t>Question: "Calculate total service load for 200A panel (range, dryer, AC, 3000 sq ft)"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E7D32"/>
                </a:solidFill>
              </a:defRPr>
            </a:pPr>
            <a:r>
              <a:t>CEC Lang: 110.5A - 200A adequate [CORRECT]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E7D32"/>
                </a:solidFill>
              </a:defRPr>
            </a:pPr>
            <a:r>
              <a:t>Claude Sonnet 4.5: 103.2A - 200A adequate [CORRECT]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404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E7D32"/>
                </a:solidFill>
              </a:defRPr>
            </a:pPr>
            <a:r>
              <a:t>GPT-4o: 113.3A (minor variance) [CORRECT]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720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62828"/>
                </a:solidFill>
              </a:defRPr>
            </a:pPr>
            <a:r>
              <a:t>Gemini 2.5 Pro: 95.9A (missed demand factor) [WRONG]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3035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62828"/>
                </a:solidFill>
              </a:defRPr>
            </a:pPr>
            <a:r>
              <a:t>ChatGPT 5.1: 120A (no Table 220.55) [WRONG]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Why CEC Lang Wins on Calculations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2E7D32"/>
                </a:solidFill>
              </a:defRPr>
            </a:pPr>
            <a:r>
              <a:t>Deterministic table lookups from structured JSON data</a:t>
            </a:r>
          </a:p>
          <a:p>
            <a:pPr>
              <a:spcAft>
                <a:spcPts val="1200"/>
              </a:spcAft>
              <a:defRPr sz="2400"/>
            </a:pPr>
            <a:r>
              <a:t>No hallucination risk - exact values retrieved, not generated</a:t>
            </a:r>
          </a:p>
          <a:p>
            <a:pPr>
              <a:spcAft>
                <a:spcPts val="1200"/>
              </a:spcAft>
              <a:defRPr sz="2400" b="1">
                <a:solidFill>
                  <a:srgbClr val="2E7D32"/>
                </a:solidFill>
              </a:defRPr>
            </a:pPr>
            <a:r>
              <a:t>Python calculator for all arithmetic (no LLM math)</a:t>
            </a:r>
          </a:p>
          <a:p>
            <a:pPr>
              <a:spcAft>
                <a:spcPts val="1200"/>
              </a:spcAft>
              <a:defRPr sz="2400"/>
            </a:pPr>
            <a:r>
              <a:t>Mandatory tool usage enforced by agent loop</a:t>
            </a:r>
          </a:p>
          <a:p>
            <a:pPr>
              <a:spcAft>
                <a:spcPts val="1200"/>
              </a:spcAft>
              <a:defRPr sz="2400"/>
            </a:pPr>
            <a:r>
              <a:t>Exception search verification before final answers</a:t>
            </a:r>
          </a:p>
          <a:p>
            <a:pPr>
              <a:spcAft>
                <a:spcPts val="1200"/>
              </a:spcAft>
              <a:defRPr sz="2400"/>
            </a:pPr>
            <a:r>
              <a:t>Architecture designed for reliability, not just capability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Where All Models Perform Equally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18 of 28 questions: all models scored 10/10</a:t>
            </a:r>
          </a:p>
          <a:p>
            <a:pPr>
              <a:spcAft>
                <a:spcPts val="1200"/>
              </a:spcAft>
              <a:defRPr sz="2400"/>
            </a:pPr>
            <a:r>
              <a:t>Code interpretation questions - strong across all LLMs</a:t>
            </a:r>
          </a:p>
          <a:p>
            <a:pPr>
              <a:spcAft>
                <a:spcPts val="1200"/>
              </a:spcAft>
              <a:defRPr sz="2400"/>
            </a:pPr>
            <a:r>
              <a:t>Violation identification - equally capable</a:t>
            </a:r>
          </a:p>
          <a:p>
            <a:pPr>
              <a:spcAft>
                <a:spcPts val="1200"/>
              </a:spcAft>
              <a:defRPr sz="2400"/>
            </a:pPr>
            <a:r>
              <a:t>Conceptual explanations (AFCI purpose, torque specs, etc.)</a:t>
            </a:r>
          </a:p>
          <a:p>
            <a:pPr>
              <a:spcAft>
                <a:spcPts val="1200"/>
              </a:spcAft>
              <a:defRPr sz="2400"/>
            </a:pPr>
            <a:r>
              <a:t>Grounding/bonding configuration questions</a:t>
            </a:r>
          </a:p>
          <a:p>
            <a:pPr>
              <a:spcAft>
                <a:spcPts val="1200"/>
              </a:spcAft>
              <a:defRPr sz="2400"/>
            </a:pPr>
            <a:r>
              <a:t>The differentiator is calculations, not knowledge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"For calculation-heavy electrical work,</a:t>
            </a:r>
            <a:br/>
            <a:r>
              <a:t>structured tools beat frontier LLMs"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CEC Lang: 0 calculation errors vs 2-4 per baseline model</a:t>
            </a:r>
          </a:p>
          <a:p>
            <a:pPr algn="ctr"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Reliability matters when errors have safety implications</a:t>
            </a:r>
          </a:p>
          <a:p>
            <a:pPr algn="ctr"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Deterministic lookups &gt; LLM memory for table values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Use CEC Lang for: conductor sizing, load calculations, conduit fill, derating</a:t>
            </a:r>
          </a:p>
          <a:p>
            <a:pPr>
              <a:spcAft>
                <a:spcPts val="1200"/>
              </a:spcAft>
              <a:defRPr sz="2400"/>
            </a:pPr>
            <a:r>
              <a:t>Any LLM works for: code interpretation, violation ID, conceptual questions</a:t>
            </a:r>
          </a:p>
          <a:p>
            <a:pPr>
              <a:spcAft>
                <a:spcPts val="1200"/>
              </a:spcAft>
              <a:defRPr sz="2400"/>
            </a:pPr>
            <a:r>
              <a:t>Key insight: Combine structured tools with LLM reasoning</a:t>
            </a:r>
          </a:p>
          <a:p>
            <a:pPr>
              <a:spcAft>
                <a:spcPts val="1200"/>
              </a:spcAft>
              <a:defRPr sz="2400"/>
            </a:pPr>
            <a:r>
              <a:t>Don't trust LLMs for exact table values or multi-step calculations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